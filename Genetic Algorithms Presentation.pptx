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4" r:id="rId6"/>
    <p:sldId id="259" r:id="rId7"/>
    <p:sldId id="266" r:id="rId8"/>
    <p:sldId id="267" r:id="rId9"/>
    <p:sldId id="265" r:id="rId10"/>
    <p:sldId id="270" r:id="rId11"/>
    <p:sldId id="269" r:id="rId12"/>
    <p:sldId id="271" r:id="rId13"/>
    <p:sldId id="272" r:id="rId14"/>
    <p:sldId id="273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5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</dgm:pt>
    <dgm:pt modelId="{4AF52931-E4CA-4429-AACB-B8747CDB240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Atoms</a:t>
          </a:r>
        </a:p>
      </dgm:t>
    </dgm:pt>
    <dgm:pt modelId="{67B2FC97-2FAE-4EFE-9DEE-E4216C657F35}" type="parTrans" cxnId="{F82329C8-C3B2-4E9B-9033-528488D72705}">
      <dgm:prSet/>
      <dgm:spPr/>
      <dgm:t>
        <a:bodyPr/>
        <a:lstStyle/>
        <a:p>
          <a:endParaRPr lang="en-US"/>
        </a:p>
      </dgm:t>
    </dgm:pt>
    <dgm:pt modelId="{D86AF01C-9CBC-41F8-9354-48CD82BDFDC9}" type="sibTrans" cxnId="{F82329C8-C3B2-4E9B-9033-528488D72705}">
      <dgm:prSet/>
      <dgm:spPr/>
      <dgm:t>
        <a:bodyPr/>
        <a:lstStyle/>
        <a:p>
          <a:endParaRPr lang="en-US"/>
        </a:p>
      </dgm:t>
    </dgm:pt>
    <dgm:pt modelId="{81BEB84D-9A77-49C6-9301-B3359FCAC75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Chemical Testing</a:t>
          </a:r>
        </a:p>
      </dgm:t>
    </dgm:pt>
    <dgm:pt modelId="{AE4D0D43-0332-4F79-8D35-BCD8C10758AE}" type="parTrans" cxnId="{420EF6C4-7321-43BE-A2FC-253606B1E06A}">
      <dgm:prSet/>
      <dgm:spPr/>
      <dgm:t>
        <a:bodyPr/>
        <a:lstStyle/>
        <a:p>
          <a:endParaRPr lang="en-US"/>
        </a:p>
      </dgm:t>
    </dgm:pt>
    <dgm:pt modelId="{5D260F18-25D2-4074-87F1-7E78DDA61C58}" type="sibTrans" cxnId="{420EF6C4-7321-43BE-A2FC-253606B1E06A}">
      <dgm:prSet/>
      <dgm:spPr/>
      <dgm:t>
        <a:bodyPr/>
        <a:lstStyle/>
        <a:p>
          <a:endParaRPr lang="en-US"/>
        </a:p>
      </dgm:t>
    </dgm:pt>
    <dgm:pt modelId="{BFF9359E-E9B1-4B73-BACC-2C7988765B1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Formulas</a:t>
          </a:r>
        </a:p>
      </dgm:t>
    </dgm:pt>
    <dgm:pt modelId="{6E0A40FA-1B79-4089-8B9A-3BA22865FE4E}" type="parTrans" cxnId="{516EC545-1971-48B3-978C-4756FCDCCFD9}">
      <dgm:prSet/>
      <dgm:spPr/>
      <dgm:t>
        <a:bodyPr/>
        <a:lstStyle/>
        <a:p>
          <a:endParaRPr lang="en-US"/>
        </a:p>
      </dgm:t>
    </dgm:pt>
    <dgm:pt modelId="{1CEF1965-C516-4C44-BAE3-2FA3F5116930}" type="sibTrans" cxnId="{516EC545-1971-48B3-978C-4756FCDCCFD9}">
      <dgm:prSet/>
      <dgm:spPr/>
      <dgm:t>
        <a:bodyPr/>
        <a:lstStyle/>
        <a:p>
          <a:endParaRPr lang="en-US"/>
        </a:p>
      </dgm:t>
    </dgm:pt>
    <dgm:pt modelId="{6F4DA4D9-01DC-439B-8F27-AAA47846B277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  <dgm:pt modelId="{7BD98E3C-315B-4C9C-8D58-D6DB162B58F8}" type="pres">
      <dgm:prSet presAssocID="{4AF52931-E4CA-4429-AACB-B8747CDB2409}" presName="compNode" presStyleCnt="0"/>
      <dgm:spPr/>
    </dgm:pt>
    <dgm:pt modelId="{DD5F79B1-3C2C-4604-AC16-19B868C74020}" type="pres">
      <dgm:prSet presAssocID="{4AF52931-E4CA-4429-AACB-B8747CDB2409}" presName="bgRect" presStyleLbl="bgShp" presStyleIdx="0" presStyleCnt="3"/>
      <dgm:spPr/>
    </dgm:pt>
    <dgm:pt modelId="{B949D2F1-162D-4D02-A732-D01345E22AA4}" type="pres">
      <dgm:prSet presAssocID="{4AF52931-E4CA-4429-AACB-B8747CDB24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B131C359-49F1-4CB8-8E9B-1B1386A2778B}" type="pres">
      <dgm:prSet presAssocID="{4AF52931-E4CA-4429-AACB-B8747CDB2409}" presName="spaceRect" presStyleCnt="0"/>
      <dgm:spPr/>
    </dgm:pt>
    <dgm:pt modelId="{F8F5240A-0D85-485B-9D93-407D1FFAF913}" type="pres">
      <dgm:prSet presAssocID="{4AF52931-E4CA-4429-AACB-B8747CDB2409}" presName="parTx" presStyleLbl="revTx" presStyleIdx="0" presStyleCnt="3">
        <dgm:presLayoutVars>
          <dgm:chMax val="0"/>
          <dgm:chPref val="0"/>
        </dgm:presLayoutVars>
      </dgm:prSet>
      <dgm:spPr/>
    </dgm:pt>
    <dgm:pt modelId="{D8ABCEC2-390B-429B-9081-E082DA5D0427}" type="pres">
      <dgm:prSet presAssocID="{D86AF01C-9CBC-41F8-9354-48CD82BDFDC9}" presName="sibTrans" presStyleCnt="0"/>
      <dgm:spPr/>
    </dgm:pt>
    <dgm:pt modelId="{F2D54F12-8080-4E0C-BD80-92EA1630D084}" type="pres">
      <dgm:prSet presAssocID="{81BEB84D-9A77-49C6-9301-B3359FCAC75F}" presName="compNode" presStyleCnt="0"/>
      <dgm:spPr/>
    </dgm:pt>
    <dgm:pt modelId="{CBA0401E-7684-42C8-839E-D801768D883C}" type="pres">
      <dgm:prSet presAssocID="{81BEB84D-9A77-49C6-9301-B3359FCAC75F}" presName="bgRect" presStyleLbl="bgShp" presStyleIdx="1" presStyleCnt="3"/>
      <dgm:spPr/>
    </dgm:pt>
    <dgm:pt modelId="{EF3B2503-2995-401B-AD2A-8687192014FC}" type="pres">
      <dgm:prSet presAssocID="{81BEB84D-9A77-49C6-9301-B3359FCAC7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69262E9A-AC8B-4E45-B562-DDB0B7EF679B}" type="pres">
      <dgm:prSet presAssocID="{81BEB84D-9A77-49C6-9301-B3359FCAC75F}" presName="spaceRect" presStyleCnt="0"/>
      <dgm:spPr/>
    </dgm:pt>
    <dgm:pt modelId="{686301C7-6BD3-4366-8AD9-2496B2EDF77C}" type="pres">
      <dgm:prSet presAssocID="{81BEB84D-9A77-49C6-9301-B3359FCAC75F}" presName="parTx" presStyleLbl="revTx" presStyleIdx="1" presStyleCnt="3">
        <dgm:presLayoutVars>
          <dgm:chMax val="0"/>
          <dgm:chPref val="0"/>
        </dgm:presLayoutVars>
      </dgm:prSet>
      <dgm:spPr/>
    </dgm:pt>
    <dgm:pt modelId="{6ED4671C-AA9A-4E39-8821-8479FB442A42}" type="pres">
      <dgm:prSet presAssocID="{5D260F18-25D2-4074-87F1-7E78DDA61C58}" presName="sibTrans" presStyleCnt="0"/>
      <dgm:spPr/>
    </dgm:pt>
    <dgm:pt modelId="{73B0EF57-FE6C-4349-B546-40C4671BE0AF}" type="pres">
      <dgm:prSet presAssocID="{BFF9359E-E9B1-4B73-BACC-2C7988765B16}" presName="compNode" presStyleCnt="0"/>
      <dgm:spPr/>
    </dgm:pt>
    <dgm:pt modelId="{5865A6BD-F99C-4927-AA71-14438D8BD5FD}" type="pres">
      <dgm:prSet presAssocID="{BFF9359E-E9B1-4B73-BACC-2C7988765B16}" presName="bgRect" presStyleLbl="bgShp" presStyleIdx="2" presStyleCnt="3"/>
      <dgm:spPr/>
    </dgm:pt>
    <dgm:pt modelId="{F7573F21-6CA6-4D82-A5B8-20E46E8BAE44}" type="pres">
      <dgm:prSet presAssocID="{BFF9359E-E9B1-4B73-BACC-2C7988765B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CFA2DEF1-3E86-45A4-93DF-3F3524CE8FA1}" type="pres">
      <dgm:prSet presAssocID="{BFF9359E-E9B1-4B73-BACC-2C7988765B16}" presName="spaceRect" presStyleCnt="0"/>
      <dgm:spPr/>
    </dgm:pt>
    <dgm:pt modelId="{3A277CF8-63F3-4E73-9A0E-6D37315945D9}" type="pres">
      <dgm:prSet presAssocID="{BFF9359E-E9B1-4B73-BACC-2C7988765B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57D760D-D278-416A-8A95-E1E5E1AC50DD}" type="presOf" srcId="{BFF9359E-E9B1-4B73-BACC-2C7988765B16}" destId="{3A277CF8-63F3-4E73-9A0E-6D37315945D9}" srcOrd="0" destOrd="0" presId="urn:microsoft.com/office/officeart/2018/2/layout/IconVerticalSolidList"/>
    <dgm:cxn modelId="{0FB2B426-F0E1-46AC-8877-C6BC9AFEAA79}" type="presOf" srcId="{81BEB84D-9A77-49C6-9301-B3359FCAC75F}" destId="{686301C7-6BD3-4366-8AD9-2496B2EDF77C}" srcOrd="0" destOrd="0" presId="urn:microsoft.com/office/officeart/2018/2/layout/IconVerticalSolidList"/>
    <dgm:cxn modelId="{E35E8428-56F2-46AB-9E50-4261F022E415}" type="presOf" srcId="{4AF52931-E4CA-4429-AACB-B8747CDB2409}" destId="{F8F5240A-0D85-485B-9D93-407D1FFAF913}" srcOrd="0" destOrd="0" presId="urn:microsoft.com/office/officeart/2018/2/layout/IconVerticalSolidList"/>
    <dgm:cxn modelId="{516EC545-1971-48B3-978C-4756FCDCCFD9}" srcId="{C7720856-93F0-4CC7-B7FD-2466914A11D4}" destId="{BFF9359E-E9B1-4B73-BACC-2C7988765B16}" srcOrd="2" destOrd="0" parTransId="{6E0A40FA-1B79-4089-8B9A-3BA22865FE4E}" sibTransId="{1CEF1965-C516-4C44-BAE3-2FA3F5116930}"/>
    <dgm:cxn modelId="{9AA0145A-3FA6-4E40-B6CD-6DB3507FF368}" type="presOf" srcId="{C7720856-93F0-4CC7-B7FD-2466914A11D4}" destId="{6F4DA4D9-01DC-439B-8F27-AAA47846B277}" srcOrd="0" destOrd="0" presId="urn:microsoft.com/office/officeart/2018/2/layout/IconVerticalSolidList"/>
    <dgm:cxn modelId="{420EF6C4-7321-43BE-A2FC-253606B1E06A}" srcId="{C7720856-93F0-4CC7-B7FD-2466914A11D4}" destId="{81BEB84D-9A77-49C6-9301-B3359FCAC75F}" srcOrd="1" destOrd="0" parTransId="{AE4D0D43-0332-4F79-8D35-BCD8C10758AE}" sibTransId="{5D260F18-25D2-4074-87F1-7E78DDA61C58}"/>
    <dgm:cxn modelId="{F82329C8-C3B2-4E9B-9033-528488D72705}" srcId="{C7720856-93F0-4CC7-B7FD-2466914A11D4}" destId="{4AF52931-E4CA-4429-AACB-B8747CDB2409}" srcOrd="0" destOrd="0" parTransId="{67B2FC97-2FAE-4EFE-9DEE-E4216C657F35}" sibTransId="{D86AF01C-9CBC-41F8-9354-48CD82BDFDC9}"/>
    <dgm:cxn modelId="{AFECB7CA-4E50-4F60-A6FB-C3816E8CAB87}" type="presParOf" srcId="{6F4DA4D9-01DC-439B-8F27-AAA47846B277}" destId="{7BD98E3C-315B-4C9C-8D58-D6DB162B58F8}" srcOrd="0" destOrd="0" presId="urn:microsoft.com/office/officeart/2018/2/layout/IconVerticalSolidList"/>
    <dgm:cxn modelId="{A2217810-9D1C-4BC7-BE87-D83BE419F7B1}" type="presParOf" srcId="{7BD98E3C-315B-4C9C-8D58-D6DB162B58F8}" destId="{DD5F79B1-3C2C-4604-AC16-19B868C74020}" srcOrd="0" destOrd="0" presId="urn:microsoft.com/office/officeart/2018/2/layout/IconVerticalSolidList"/>
    <dgm:cxn modelId="{30B94466-A785-41BF-BAD4-03A089615086}" type="presParOf" srcId="{7BD98E3C-315B-4C9C-8D58-D6DB162B58F8}" destId="{B949D2F1-162D-4D02-A732-D01345E22AA4}" srcOrd="1" destOrd="0" presId="urn:microsoft.com/office/officeart/2018/2/layout/IconVerticalSolidList"/>
    <dgm:cxn modelId="{FFB8D8B5-5828-46DD-BA77-13638195E4D6}" type="presParOf" srcId="{7BD98E3C-315B-4C9C-8D58-D6DB162B58F8}" destId="{B131C359-49F1-4CB8-8E9B-1B1386A2778B}" srcOrd="2" destOrd="0" presId="urn:microsoft.com/office/officeart/2018/2/layout/IconVerticalSolidList"/>
    <dgm:cxn modelId="{11227E96-FF77-4F39-8B07-07E8611C740D}" type="presParOf" srcId="{7BD98E3C-315B-4C9C-8D58-D6DB162B58F8}" destId="{F8F5240A-0D85-485B-9D93-407D1FFAF913}" srcOrd="3" destOrd="0" presId="urn:microsoft.com/office/officeart/2018/2/layout/IconVerticalSolidList"/>
    <dgm:cxn modelId="{FFC4B6D5-9F56-4405-843A-09B40CA888A3}" type="presParOf" srcId="{6F4DA4D9-01DC-439B-8F27-AAA47846B277}" destId="{D8ABCEC2-390B-429B-9081-E082DA5D0427}" srcOrd="1" destOrd="0" presId="urn:microsoft.com/office/officeart/2018/2/layout/IconVerticalSolidList"/>
    <dgm:cxn modelId="{16ACC83C-7034-4747-BC5D-1E635B3C6CE7}" type="presParOf" srcId="{6F4DA4D9-01DC-439B-8F27-AAA47846B277}" destId="{F2D54F12-8080-4E0C-BD80-92EA1630D084}" srcOrd="2" destOrd="0" presId="urn:microsoft.com/office/officeart/2018/2/layout/IconVerticalSolidList"/>
    <dgm:cxn modelId="{8B276A48-7CBD-4E21-9430-CF0A09D6C0BD}" type="presParOf" srcId="{F2D54F12-8080-4E0C-BD80-92EA1630D084}" destId="{CBA0401E-7684-42C8-839E-D801768D883C}" srcOrd="0" destOrd="0" presId="urn:microsoft.com/office/officeart/2018/2/layout/IconVerticalSolidList"/>
    <dgm:cxn modelId="{F08383BF-FD60-4A49-AD77-65D910EFB252}" type="presParOf" srcId="{F2D54F12-8080-4E0C-BD80-92EA1630D084}" destId="{EF3B2503-2995-401B-AD2A-8687192014FC}" srcOrd="1" destOrd="0" presId="urn:microsoft.com/office/officeart/2018/2/layout/IconVerticalSolidList"/>
    <dgm:cxn modelId="{9D8D1D89-E527-4484-AD56-92A94FED0B6C}" type="presParOf" srcId="{F2D54F12-8080-4E0C-BD80-92EA1630D084}" destId="{69262E9A-AC8B-4E45-B562-DDB0B7EF679B}" srcOrd="2" destOrd="0" presId="urn:microsoft.com/office/officeart/2018/2/layout/IconVerticalSolidList"/>
    <dgm:cxn modelId="{6BE50CC8-CADE-45A7-BC96-23D75538F39A}" type="presParOf" srcId="{F2D54F12-8080-4E0C-BD80-92EA1630D084}" destId="{686301C7-6BD3-4366-8AD9-2496B2EDF77C}" srcOrd="3" destOrd="0" presId="urn:microsoft.com/office/officeart/2018/2/layout/IconVerticalSolidList"/>
    <dgm:cxn modelId="{159D78D4-1170-4693-834B-E3B0A1E5AA76}" type="presParOf" srcId="{6F4DA4D9-01DC-439B-8F27-AAA47846B277}" destId="{6ED4671C-AA9A-4E39-8821-8479FB442A42}" srcOrd="3" destOrd="0" presId="urn:microsoft.com/office/officeart/2018/2/layout/IconVerticalSolidList"/>
    <dgm:cxn modelId="{0E014224-8D52-4573-89D1-F50AF2BE6748}" type="presParOf" srcId="{6F4DA4D9-01DC-439B-8F27-AAA47846B277}" destId="{73B0EF57-FE6C-4349-B546-40C4671BE0AF}" srcOrd="4" destOrd="0" presId="urn:microsoft.com/office/officeart/2018/2/layout/IconVerticalSolidList"/>
    <dgm:cxn modelId="{ACBC9EF5-3D90-4A12-AA98-CAAF2742426F}" type="presParOf" srcId="{73B0EF57-FE6C-4349-B546-40C4671BE0AF}" destId="{5865A6BD-F99C-4927-AA71-14438D8BD5FD}" srcOrd="0" destOrd="0" presId="urn:microsoft.com/office/officeart/2018/2/layout/IconVerticalSolidList"/>
    <dgm:cxn modelId="{528DEE1A-B9B3-44B7-9915-05F053EAB214}" type="presParOf" srcId="{73B0EF57-FE6C-4349-B546-40C4671BE0AF}" destId="{F7573F21-6CA6-4D82-A5B8-20E46E8BAE44}" srcOrd="1" destOrd="0" presId="urn:microsoft.com/office/officeart/2018/2/layout/IconVerticalSolidList"/>
    <dgm:cxn modelId="{BBB56E6E-28C7-4B11-9E9C-87BF204F01B2}" type="presParOf" srcId="{73B0EF57-FE6C-4349-B546-40C4671BE0AF}" destId="{CFA2DEF1-3E86-45A4-93DF-3F3524CE8FA1}" srcOrd="2" destOrd="0" presId="urn:microsoft.com/office/officeart/2018/2/layout/IconVerticalSolidList"/>
    <dgm:cxn modelId="{109CAEC4-7E84-44CD-AC12-5A4173227651}" type="presParOf" srcId="{73B0EF57-FE6C-4349-B546-40C4671BE0AF}" destId="{3A277CF8-63F3-4E73-9A0E-6D37315945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F79B1-3C2C-4604-AC16-19B868C74020}">
      <dsp:nvSpPr>
        <dsp:cNvPr id="0" name=""/>
        <dsp:cNvSpPr/>
      </dsp:nvSpPr>
      <dsp:spPr>
        <a:xfrm>
          <a:off x="0" y="473"/>
          <a:ext cx="3352128" cy="11086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9D2F1-162D-4D02-A732-D01345E22AA4}">
      <dsp:nvSpPr>
        <dsp:cNvPr id="0" name=""/>
        <dsp:cNvSpPr/>
      </dsp:nvSpPr>
      <dsp:spPr>
        <a:xfrm>
          <a:off x="335374" y="249925"/>
          <a:ext cx="609771" cy="6097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5240A-0D85-485B-9D93-407D1FFAF913}">
      <dsp:nvSpPr>
        <dsp:cNvPr id="0" name=""/>
        <dsp:cNvSpPr/>
      </dsp:nvSpPr>
      <dsp:spPr>
        <a:xfrm>
          <a:off x="1280519" y="473"/>
          <a:ext cx="2071608" cy="1108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35" tIns="117335" rIns="117335" bIns="1173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Atoms</a:t>
          </a:r>
        </a:p>
      </dsp:txBody>
      <dsp:txXfrm>
        <a:off x="1280519" y="473"/>
        <a:ext cx="2071608" cy="1108674"/>
      </dsp:txXfrm>
    </dsp:sp>
    <dsp:sp modelId="{CBA0401E-7684-42C8-839E-D801768D883C}">
      <dsp:nvSpPr>
        <dsp:cNvPr id="0" name=""/>
        <dsp:cNvSpPr/>
      </dsp:nvSpPr>
      <dsp:spPr>
        <a:xfrm>
          <a:off x="0" y="1386317"/>
          <a:ext cx="3352128" cy="11086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B2503-2995-401B-AD2A-8687192014FC}">
      <dsp:nvSpPr>
        <dsp:cNvPr id="0" name=""/>
        <dsp:cNvSpPr/>
      </dsp:nvSpPr>
      <dsp:spPr>
        <a:xfrm>
          <a:off x="335374" y="1635768"/>
          <a:ext cx="609771" cy="6097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301C7-6BD3-4366-8AD9-2496B2EDF77C}">
      <dsp:nvSpPr>
        <dsp:cNvPr id="0" name=""/>
        <dsp:cNvSpPr/>
      </dsp:nvSpPr>
      <dsp:spPr>
        <a:xfrm>
          <a:off x="1280519" y="1386317"/>
          <a:ext cx="2071608" cy="1108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35" tIns="117335" rIns="117335" bIns="1173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Chemical Testing</a:t>
          </a:r>
        </a:p>
      </dsp:txBody>
      <dsp:txXfrm>
        <a:off x="1280519" y="1386317"/>
        <a:ext cx="2071608" cy="1108674"/>
      </dsp:txXfrm>
    </dsp:sp>
    <dsp:sp modelId="{5865A6BD-F99C-4927-AA71-14438D8BD5FD}">
      <dsp:nvSpPr>
        <dsp:cNvPr id="0" name=""/>
        <dsp:cNvSpPr/>
      </dsp:nvSpPr>
      <dsp:spPr>
        <a:xfrm>
          <a:off x="0" y="2772160"/>
          <a:ext cx="3352128" cy="11086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73F21-6CA6-4D82-A5B8-20E46E8BAE44}">
      <dsp:nvSpPr>
        <dsp:cNvPr id="0" name=""/>
        <dsp:cNvSpPr/>
      </dsp:nvSpPr>
      <dsp:spPr>
        <a:xfrm>
          <a:off x="335374" y="3021612"/>
          <a:ext cx="609771" cy="6097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77CF8-63F3-4E73-9A0E-6D37315945D9}">
      <dsp:nvSpPr>
        <dsp:cNvPr id="0" name=""/>
        <dsp:cNvSpPr/>
      </dsp:nvSpPr>
      <dsp:spPr>
        <a:xfrm>
          <a:off x="1280519" y="2772160"/>
          <a:ext cx="2071608" cy="1108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35" tIns="117335" rIns="117335" bIns="1173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Formulas</a:t>
          </a:r>
        </a:p>
      </dsp:txBody>
      <dsp:txXfrm>
        <a:off x="1280519" y="2772160"/>
        <a:ext cx="2071608" cy="1108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3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71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8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17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70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hyperlink" Target="mailto:mbm8496@gmail.com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3C7ED6A-DE7F-4002-9699-B659DE551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etri Dish">
            <a:extLst>
              <a:ext uri="{FF2B5EF4-FFF2-40B4-BE49-F238E27FC236}">
                <a16:creationId xmlns:a16="http://schemas.microsoft.com/office/drawing/2014/main" id="{D16B27C4-A9C2-4AC4-9DD3-88F63F48E83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358901"/>
            <a:ext cx="5280026" cy="2730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Genetic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4165600"/>
            <a:ext cx="5280027" cy="1371599"/>
          </a:xfrm>
        </p:spPr>
        <p:txBody>
          <a:bodyPr>
            <a:normAutofit/>
          </a:bodyPr>
          <a:lstStyle/>
          <a:p>
            <a:r>
              <a:rPr lang="en-US" dirty="0"/>
              <a:t>Representation, fitness, Selection, Mutation and crossover, solution of 8 queens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07FFF-BB97-D6F9-4ABA-3BCE5F466A06}"/>
              </a:ext>
            </a:extLst>
          </p:cNvPr>
          <p:cNvSpPr txBox="1"/>
          <p:nvPr/>
        </p:nvSpPr>
        <p:spPr>
          <a:xfrm>
            <a:off x="8188010" y="2724150"/>
            <a:ext cx="40853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Presented by:</a:t>
            </a:r>
          </a:p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Muhammad Bilal </a:t>
            </a:r>
            <a:br>
              <a:rPr lang="en-US" sz="4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Ali Sher</a:t>
            </a:r>
          </a:p>
        </p:txBody>
      </p:sp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09599"/>
            <a:ext cx="3352128" cy="157386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Introduction to Genetic Algorithms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9" name="Content Placeholder 8" descr="Icons">
            <a:extLst>
              <a:ext uri="{FF2B5EF4-FFF2-40B4-BE49-F238E27FC236}">
                <a16:creationId xmlns:a16="http://schemas.microsoft.com/office/drawing/2014/main" id="{8FF6EDB8-0D3A-4193-BDFE-DD56CEA7D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649334"/>
              </p:ext>
            </p:extLst>
          </p:nvPr>
        </p:nvGraphicFramePr>
        <p:xfrm>
          <a:off x="8196408" y="2367092"/>
          <a:ext cx="3352128" cy="3881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F09AADD-E128-6681-412F-CDD51B8DB693}"/>
              </a:ext>
            </a:extLst>
          </p:cNvPr>
          <p:cNvSpPr txBox="1"/>
          <p:nvPr/>
        </p:nvSpPr>
        <p:spPr>
          <a:xfrm>
            <a:off x="643464" y="2199946"/>
            <a:ext cx="67252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Optimization technique inspired by natural selection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Uses biological concepts: selection, crossover, mutation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Suitable for complex, non-linear, multi-model problems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Does not require derivatives or gradients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2640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630259-2E99-42C6-925A-ED71BD9ED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D7ECD05-B4E0-4A46-AE36-17B3B1B20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065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0643E1-7ABA-4C1E-A734-A26C5D704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063" y="1314449"/>
            <a:ext cx="3451970" cy="4073627"/>
          </a:xfrm>
          <a:noFill/>
        </p:spPr>
        <p:txBody>
          <a:bodyPr>
            <a:normAutofit/>
          </a:bodyPr>
          <a:lstStyle/>
          <a:p>
            <a:r>
              <a:rPr lang="en-US" dirty="0"/>
              <a:t>Solution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E8334-B35F-4489-F21C-2A4927DDACD3}"/>
              </a:ext>
            </a:extLst>
          </p:cNvPr>
          <p:cNvSpPr txBox="1"/>
          <p:nvPr/>
        </p:nvSpPr>
        <p:spPr>
          <a:xfrm>
            <a:off x="368710" y="1861700"/>
            <a:ext cx="755117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Solutions encoded as chromosomes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Common encodings: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Binary strings (e.g., 101010)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Real-valued vectors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Permutations for ordering problems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Proper representation affects algorithm efficiency and success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772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E201-3663-108F-65D2-0F9AE9547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Function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8C91F-C6D1-2E28-8A0E-802F57EF01FD}"/>
              </a:ext>
            </a:extLst>
          </p:cNvPr>
          <p:cNvSpPr txBox="1"/>
          <p:nvPr/>
        </p:nvSpPr>
        <p:spPr>
          <a:xfrm>
            <a:off x="4183626" y="1905506"/>
            <a:ext cx="78068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Measures quality of a solution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Guides the selection process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Must align with problem objectives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Example: Number of non-attacking queen pairs in 8-Queens problem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32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2CE981-DE3B-4DEE-9211-7C1ADEEBF0B0}"/>
              </a:ext>
            </a:extLst>
          </p:cNvPr>
          <p:cNvSpPr/>
          <p:nvPr/>
        </p:nvSpPr>
        <p:spPr>
          <a:xfrm rot="19563387">
            <a:off x="338684" y="3230074"/>
            <a:ext cx="1976284" cy="57518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DEFBE2-971D-984B-0DDA-A1DDE3BFD01A}"/>
              </a:ext>
            </a:extLst>
          </p:cNvPr>
          <p:cNvSpPr/>
          <p:nvPr/>
        </p:nvSpPr>
        <p:spPr>
          <a:xfrm rot="20142661">
            <a:off x="204459" y="31215"/>
            <a:ext cx="383457" cy="107663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652508-3370-AFB7-E59C-174157A29D6F}"/>
              </a:ext>
            </a:extLst>
          </p:cNvPr>
          <p:cNvSpPr/>
          <p:nvPr/>
        </p:nvSpPr>
        <p:spPr>
          <a:xfrm rot="13223558">
            <a:off x="-503465" y="5973096"/>
            <a:ext cx="2096290" cy="855406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6C278D5C-5507-0493-AB35-D568DA0A1C28}"/>
              </a:ext>
            </a:extLst>
          </p:cNvPr>
          <p:cNvSpPr/>
          <p:nvPr/>
        </p:nvSpPr>
        <p:spPr>
          <a:xfrm rot="13435995">
            <a:off x="-305769" y="5748907"/>
            <a:ext cx="1976284" cy="651893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1FF9ABB8-6BF9-C89B-AA1A-3674D8E7459F}"/>
              </a:ext>
            </a:extLst>
          </p:cNvPr>
          <p:cNvSpPr/>
          <p:nvPr/>
        </p:nvSpPr>
        <p:spPr>
          <a:xfrm rot="16812429">
            <a:off x="17045" y="5447984"/>
            <a:ext cx="1679171" cy="750204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4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5D1C-4B19-741D-4851-EF43015F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Methods</a:t>
            </a:r>
            <a:br>
              <a:rPr lang="en-US" dirty="0"/>
            </a:b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AC479C-B944-7E23-BF17-A01628B1968D}"/>
              </a:ext>
            </a:extLst>
          </p:cNvPr>
          <p:cNvGrpSpPr/>
          <p:nvPr/>
        </p:nvGrpSpPr>
        <p:grpSpPr>
          <a:xfrm>
            <a:off x="8836931" y="1581618"/>
            <a:ext cx="1862807" cy="1862807"/>
            <a:chOff x="2474872" y="1089"/>
            <a:chExt cx="1862807" cy="186280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8289EB-C915-4F8E-0AAF-24652A7A9984}"/>
                </a:ext>
              </a:extLst>
            </p:cNvPr>
            <p:cNvSpPr/>
            <p:nvPr/>
          </p:nvSpPr>
          <p:spPr>
            <a:xfrm>
              <a:off x="2474872" y="1089"/>
              <a:ext cx="1862807" cy="1862807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Oval 4">
              <a:extLst>
                <a:ext uri="{FF2B5EF4-FFF2-40B4-BE49-F238E27FC236}">
                  <a16:creationId xmlns:a16="http://schemas.microsoft.com/office/drawing/2014/main" id="{99D52C96-81F4-B506-DEC2-B0ED6B617982}"/>
                </a:ext>
              </a:extLst>
            </p:cNvPr>
            <p:cNvSpPr txBox="1"/>
            <p:nvPr/>
          </p:nvSpPr>
          <p:spPr>
            <a:xfrm>
              <a:off x="2747674" y="273891"/>
              <a:ext cx="1317203" cy="13172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200" b="1" kern="1200" dirty="0">
                  <a:solidFill>
                    <a:schemeClr val="tx1"/>
                  </a:solidFill>
                </a:rPr>
                <a:t>Hypothesis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D9FF535-0D96-8BE0-DD9D-522A51FCC191}"/>
              </a:ext>
            </a:extLst>
          </p:cNvPr>
          <p:cNvGrpSpPr/>
          <p:nvPr/>
        </p:nvGrpSpPr>
        <p:grpSpPr>
          <a:xfrm>
            <a:off x="10146119" y="3464391"/>
            <a:ext cx="628697" cy="494879"/>
            <a:chOff x="3784060" y="1883862"/>
            <a:chExt cx="628697" cy="494879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B157EFE4-7FF9-1419-B429-2B18F37A1423}"/>
                </a:ext>
              </a:extLst>
            </p:cNvPr>
            <p:cNvSpPr/>
            <p:nvPr/>
          </p:nvSpPr>
          <p:spPr>
            <a:xfrm rot="3600000">
              <a:off x="3850969" y="1816953"/>
              <a:ext cx="494879" cy="62869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Arrow: Right 6">
              <a:extLst>
                <a:ext uri="{FF2B5EF4-FFF2-40B4-BE49-F238E27FC236}">
                  <a16:creationId xmlns:a16="http://schemas.microsoft.com/office/drawing/2014/main" id="{A28DF9BF-4137-3B7B-0F4B-ABC0A56C7A76}"/>
                </a:ext>
              </a:extLst>
            </p:cNvPr>
            <p:cNvSpPr txBox="1"/>
            <p:nvPr/>
          </p:nvSpPr>
          <p:spPr>
            <a:xfrm rot="3600000">
              <a:off x="3888085" y="1878405"/>
              <a:ext cx="346415" cy="3772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8EBD8A6-2B09-41C4-34A5-631FDF73A23A}"/>
              </a:ext>
            </a:extLst>
          </p:cNvPr>
          <p:cNvGrpSpPr/>
          <p:nvPr/>
        </p:nvGrpSpPr>
        <p:grpSpPr>
          <a:xfrm>
            <a:off x="10235203" y="4003495"/>
            <a:ext cx="1862807" cy="1862807"/>
            <a:chOff x="3873144" y="2422966"/>
            <a:chExt cx="1862807" cy="1862807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CB94356-4D5A-4ACA-6553-610F6B62A8F2}"/>
                </a:ext>
              </a:extLst>
            </p:cNvPr>
            <p:cNvSpPr/>
            <p:nvPr/>
          </p:nvSpPr>
          <p:spPr>
            <a:xfrm>
              <a:off x="3873144" y="2422966"/>
              <a:ext cx="1862807" cy="1862807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2187096"/>
                <a:satOff val="-4210"/>
                <a:lumOff val="294"/>
                <a:alphaOff val="0"/>
              </a:schemeClr>
            </a:fillRef>
            <a:effectRef idx="2">
              <a:schemeClr val="accent2">
                <a:hueOff val="-2187096"/>
                <a:satOff val="-4210"/>
                <a:lumOff val="29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Oval 8">
              <a:extLst>
                <a:ext uri="{FF2B5EF4-FFF2-40B4-BE49-F238E27FC236}">
                  <a16:creationId xmlns:a16="http://schemas.microsoft.com/office/drawing/2014/main" id="{1A95F6F9-CF1A-B2D8-A515-47C6DE79F4AE}"/>
                </a:ext>
              </a:extLst>
            </p:cNvPr>
            <p:cNvSpPr txBox="1"/>
            <p:nvPr/>
          </p:nvSpPr>
          <p:spPr>
            <a:xfrm>
              <a:off x="4145946" y="2695768"/>
              <a:ext cx="1317203" cy="13172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200" b="1" kern="1200" dirty="0">
                  <a:solidFill>
                    <a:schemeClr val="tx1"/>
                  </a:solidFill>
                </a:rPr>
                <a:t>Formulas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9F7371D-EA2D-F736-D0FC-AF5642346519}"/>
              </a:ext>
            </a:extLst>
          </p:cNvPr>
          <p:cNvGrpSpPr/>
          <p:nvPr/>
        </p:nvGrpSpPr>
        <p:grpSpPr>
          <a:xfrm>
            <a:off x="9534901" y="4620550"/>
            <a:ext cx="494879" cy="628697"/>
            <a:chOff x="3172842" y="3040021"/>
            <a:chExt cx="494879" cy="628697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00747C9C-D7CE-43A2-3B72-E096FE098772}"/>
                </a:ext>
              </a:extLst>
            </p:cNvPr>
            <p:cNvSpPr/>
            <p:nvPr/>
          </p:nvSpPr>
          <p:spPr>
            <a:xfrm rot="10800000">
              <a:off x="3172842" y="3040021"/>
              <a:ext cx="494879" cy="62869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2187096"/>
                <a:satOff val="-4210"/>
                <a:lumOff val="294"/>
                <a:alphaOff val="0"/>
              </a:schemeClr>
            </a:fillRef>
            <a:effectRef idx="2">
              <a:schemeClr val="accent2">
                <a:hueOff val="-2187096"/>
                <a:satOff val="-4210"/>
                <a:lumOff val="29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Arrow: Right 10">
              <a:extLst>
                <a:ext uri="{FF2B5EF4-FFF2-40B4-BE49-F238E27FC236}">
                  <a16:creationId xmlns:a16="http://schemas.microsoft.com/office/drawing/2014/main" id="{E085232D-AC95-B50D-6AEB-34C6A54F6561}"/>
                </a:ext>
              </a:extLst>
            </p:cNvPr>
            <p:cNvSpPr txBox="1"/>
            <p:nvPr/>
          </p:nvSpPr>
          <p:spPr>
            <a:xfrm rot="21600000">
              <a:off x="3321306" y="3165760"/>
              <a:ext cx="346415" cy="3772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0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EB3292-747F-D3E1-9307-347C653E2FE3}"/>
              </a:ext>
            </a:extLst>
          </p:cNvPr>
          <p:cNvGrpSpPr/>
          <p:nvPr/>
        </p:nvGrpSpPr>
        <p:grpSpPr>
          <a:xfrm>
            <a:off x="7438660" y="4003495"/>
            <a:ext cx="1862807" cy="1862807"/>
            <a:chOff x="1076601" y="2422966"/>
            <a:chExt cx="1862807" cy="186280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5E80BDA-04DF-6090-10AC-21C4C66E7591}"/>
                </a:ext>
              </a:extLst>
            </p:cNvPr>
            <p:cNvSpPr/>
            <p:nvPr/>
          </p:nvSpPr>
          <p:spPr>
            <a:xfrm>
              <a:off x="1076601" y="2422966"/>
              <a:ext cx="1862807" cy="1862807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4374192"/>
                <a:satOff val="-8420"/>
                <a:lumOff val="588"/>
                <a:alphaOff val="0"/>
              </a:schemeClr>
            </a:fillRef>
            <a:effectRef idx="2">
              <a:schemeClr val="accent2">
                <a:hueOff val="-4374192"/>
                <a:satOff val="-8420"/>
                <a:lumOff val="58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34F7666-7D61-8885-51C6-BC878D7DBFA1}"/>
                </a:ext>
              </a:extLst>
            </p:cNvPr>
            <p:cNvSpPr txBox="1"/>
            <p:nvPr/>
          </p:nvSpPr>
          <p:spPr>
            <a:xfrm>
              <a:off x="1349403" y="2695768"/>
              <a:ext cx="1317203" cy="13172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n-US" sz="1200" b="1" kern="1200" dirty="0">
                  <a:solidFill>
                    <a:schemeClr val="tx1"/>
                  </a:solidFill>
                </a:rPr>
                <a:t>Calculations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268A073-26F2-9FFC-4372-650D065E43FE}"/>
              </a:ext>
            </a:extLst>
          </p:cNvPr>
          <p:cNvGrpSpPr/>
          <p:nvPr/>
        </p:nvGrpSpPr>
        <p:grpSpPr>
          <a:xfrm>
            <a:off x="8747847" y="3488650"/>
            <a:ext cx="628697" cy="494879"/>
            <a:chOff x="2385788" y="1908121"/>
            <a:chExt cx="628697" cy="494879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D3F10EAF-4A53-CCBC-9C8B-651067F82529}"/>
                </a:ext>
              </a:extLst>
            </p:cNvPr>
            <p:cNvSpPr/>
            <p:nvPr/>
          </p:nvSpPr>
          <p:spPr>
            <a:xfrm rot="18000000">
              <a:off x="2452697" y="1841212"/>
              <a:ext cx="494879" cy="62869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-4374192"/>
                <a:satOff val="-8420"/>
                <a:lumOff val="588"/>
                <a:alphaOff val="0"/>
              </a:schemeClr>
            </a:fillRef>
            <a:effectRef idx="2">
              <a:schemeClr val="accent2">
                <a:hueOff val="-4374192"/>
                <a:satOff val="-8420"/>
                <a:lumOff val="58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Arrow: Right 14">
              <a:extLst>
                <a:ext uri="{FF2B5EF4-FFF2-40B4-BE49-F238E27FC236}">
                  <a16:creationId xmlns:a16="http://schemas.microsoft.com/office/drawing/2014/main" id="{024CF39F-400B-326C-6C16-87984C8211EC}"/>
                </a:ext>
              </a:extLst>
            </p:cNvPr>
            <p:cNvSpPr txBox="1"/>
            <p:nvPr/>
          </p:nvSpPr>
          <p:spPr>
            <a:xfrm rot="18000000">
              <a:off x="2489813" y="2031238"/>
              <a:ext cx="346415" cy="3772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000" b="1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3D5E215-453D-98CF-26B2-DAE021E9B3B5}"/>
              </a:ext>
            </a:extLst>
          </p:cNvPr>
          <p:cNvSpPr txBox="1"/>
          <p:nvPr/>
        </p:nvSpPr>
        <p:spPr>
          <a:xfrm>
            <a:off x="560439" y="2214694"/>
            <a:ext cx="669509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Roulette Wheel Selection: Probability proportional to fitness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Tournament Selection: Select best among a random subset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Rank-Based Selection: Based on relative ranking, not absolute fitness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86572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F86BEAF-FD24-4827-AD37-6785EBC9C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F5B52056-26AD-4841-8A16-C1D9E3C09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5" descr="Formula">
            <a:extLst>
              <a:ext uri="{FF2B5EF4-FFF2-40B4-BE49-F238E27FC236}">
                <a16:creationId xmlns:a16="http://schemas.microsoft.com/office/drawing/2014/main" id="{29B78601-F415-4A48-AB86-2F6B81FA913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47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8B2B72-EB44-4428-96AA-8636E4A4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3373" y="618518"/>
            <a:ext cx="6672886" cy="79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Crossover (Recombination)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E083C-64CF-044A-8D54-C48EC3B6C227}"/>
              </a:ext>
            </a:extLst>
          </p:cNvPr>
          <p:cNvSpPr txBox="1"/>
          <p:nvPr/>
        </p:nvSpPr>
        <p:spPr>
          <a:xfrm>
            <a:off x="4778477" y="1755058"/>
            <a:ext cx="66728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Combines genetic material from two parents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Types: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Single-point crossover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Multi-point crossover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Uniform crossover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Preserves beneficial gene combinations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69036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7E82C-AAAB-7DF5-8793-82096CBB23CF}"/>
              </a:ext>
            </a:extLst>
          </p:cNvPr>
          <p:cNvSpPr txBox="1"/>
          <p:nvPr/>
        </p:nvSpPr>
        <p:spPr>
          <a:xfrm>
            <a:off x="2521974" y="884903"/>
            <a:ext cx="71234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MUTATION</a:t>
            </a:r>
          </a:p>
          <a:p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A09C5-ACFF-0BE6-5BA4-38F159F2AAE4}"/>
              </a:ext>
            </a:extLst>
          </p:cNvPr>
          <p:cNvSpPr txBox="1"/>
          <p:nvPr/>
        </p:nvSpPr>
        <p:spPr>
          <a:xfrm>
            <a:off x="2403987" y="2085232"/>
            <a:ext cx="8229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3200" dirty="0"/>
              <a:t>Introduces random changes to maintain diversity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3200" dirty="0"/>
              <a:t>Types: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Bit flip (binary)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Swap mutation (permutations)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Gaussian perturbation (real-valued)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3200" dirty="0"/>
              <a:t>Usually applied with low probability (~0.1%)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4742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FB7C3B-36C2-279C-F0C7-A27FFD18DD27}"/>
              </a:ext>
            </a:extLst>
          </p:cNvPr>
          <p:cNvSpPr/>
          <p:nvPr/>
        </p:nvSpPr>
        <p:spPr>
          <a:xfrm>
            <a:off x="4527755" y="0"/>
            <a:ext cx="631231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096A58-E9B7-7DD2-340A-1E9A98A6D6E4}"/>
              </a:ext>
            </a:extLst>
          </p:cNvPr>
          <p:cNvSpPr txBox="1"/>
          <p:nvPr/>
        </p:nvSpPr>
        <p:spPr>
          <a:xfrm>
            <a:off x="678427" y="2610464"/>
            <a:ext cx="30676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GENETIC ALGORITHMS WORKFLOW</a:t>
            </a:r>
          </a:p>
          <a:p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04777-C022-5C58-1402-49D32DD1F0EE}"/>
              </a:ext>
            </a:extLst>
          </p:cNvPr>
          <p:cNvSpPr txBox="1"/>
          <p:nvPr/>
        </p:nvSpPr>
        <p:spPr>
          <a:xfrm>
            <a:off x="4822723" y="988142"/>
            <a:ext cx="619432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dirty="0"/>
              <a:t>Initialize population randomly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Evaluate fitness of each individual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Select parents based on fitness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Apply crossover to produce offspring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Apply mutation to offspring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Replace population with new individuals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Repeat until stopping criteria met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38042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DFC23A-C44C-A0A0-6A59-23C56F0ABD89}"/>
              </a:ext>
            </a:extLst>
          </p:cNvPr>
          <p:cNvSpPr txBox="1"/>
          <p:nvPr/>
        </p:nvSpPr>
        <p:spPr>
          <a:xfrm>
            <a:off x="631722" y="2005782"/>
            <a:ext cx="109285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Goal: Place 8 queens on a chessboard so none attack each other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Representation: Chromosome encodes queen positions by column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Fitness: Number of non-attacking pairs of queens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Operators: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Crossover swaps subsets of queen positions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Mutation changes position of a queen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0FBB60-9777-BCA6-7C3C-578697A53966}"/>
              </a:ext>
            </a:extLst>
          </p:cNvPr>
          <p:cNvSpPr txBox="1"/>
          <p:nvPr/>
        </p:nvSpPr>
        <p:spPr>
          <a:xfrm>
            <a:off x="3952567" y="634181"/>
            <a:ext cx="71824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8-Queens Problem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44769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1587-1097-EBAC-6FD5-D95B5B819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7297" y="245160"/>
            <a:ext cx="5991891" cy="111795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E5DB83-DDBC-E4B4-DC6E-1520C6C1D799}"/>
              </a:ext>
            </a:extLst>
          </p:cNvPr>
          <p:cNvSpPr txBox="1"/>
          <p:nvPr/>
        </p:nvSpPr>
        <p:spPr>
          <a:xfrm>
            <a:off x="1474839" y="1717071"/>
            <a:ext cx="762491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Genetic Algorithms are powerful, nature-inspired optimization tools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Key components: representation, fitness, selection, crossover, mutation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Effective for diverse optimization problems, including the 8-Queens puzzle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/>
              <a:t>Success depends on careful design and 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242118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7628-D908-C7C1-961E-8BA2F779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578282"/>
            <a:ext cx="10364452" cy="2511835"/>
          </a:xfrm>
        </p:spPr>
        <p:txBody>
          <a:bodyPr>
            <a:normAutofit/>
          </a:bodyPr>
          <a:lstStyle/>
          <a:p>
            <a:r>
              <a:rPr lang="en-US" sz="5400" dirty="0"/>
              <a:t>Thank you!</a:t>
            </a:r>
            <a:br>
              <a:rPr lang="en-US" sz="5400" dirty="0"/>
            </a:br>
            <a:br>
              <a:rPr lang="en-US" sz="5400" dirty="0"/>
            </a:br>
            <a:r>
              <a:rPr lang="en-US" sz="5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9294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2255CADE-DCE0-447F-B290-2AE78E5E5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240987D2-7FAC-4B65-A97B-0EAADE73B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62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Placeholder 5" descr="Science Lab">
            <a:extLst>
              <a:ext uri="{FF2B5EF4-FFF2-40B4-BE49-F238E27FC236}">
                <a16:creationId xmlns:a16="http://schemas.microsoft.com/office/drawing/2014/main" id="{2543122C-30CE-4CD2-B15E-CA20AE39CC4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64" r="2" b="2"/>
          <a:stretch/>
        </p:blipFill>
        <p:spPr>
          <a:xfrm>
            <a:off x="8860" y="10"/>
            <a:ext cx="6924201" cy="685799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245587C-701C-48A1-9B6B-10C3DF81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30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E5CF545-7AAF-4A13-8871-089E929E8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B77B0A-41A1-428C-897D-2AEE4B4A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82" y="1358901"/>
            <a:ext cx="3707844" cy="101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Contact 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BA689-20E2-4C6E-9788-5A871F3D1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8134" y="2501821"/>
            <a:ext cx="3487479" cy="789172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200" dirty="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mbm8496@gmail.com</a:t>
            </a:r>
            <a:br>
              <a:rPr lang="en-US" sz="2200" dirty="0">
                <a:solidFill>
                  <a:srgbClr val="00B0F0"/>
                </a:solidFill>
              </a:rPr>
            </a:br>
            <a:r>
              <a:rPr lang="en-US" sz="2200" u="sng" dirty="0">
                <a:solidFill>
                  <a:srgbClr val="00B0F0"/>
                </a:solidFill>
              </a:rPr>
              <a:t>alisherjutt34@gmail.com</a:t>
            </a:r>
          </a:p>
        </p:txBody>
      </p:sp>
    </p:spTree>
    <p:extLst>
      <p:ext uri="{BB962C8B-B14F-4D97-AF65-F5344CB8AC3E}">
        <p14:creationId xmlns:p14="http://schemas.microsoft.com/office/powerpoint/2010/main" val="29846103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C9275B-1E7E-409A-9467-302622C468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E52988-C458-4121-9BF8-864CDB291D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BA7D41-7EBD-45D7-AFB8-22EF4BFA6BA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Laboratory design</Template>
  <TotalTime>68</TotalTime>
  <Words>354</Words>
  <Application>Microsoft Office PowerPoint</Application>
  <PresentationFormat>Widescreen</PresentationFormat>
  <Paragraphs>73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Tw Cen MT</vt:lpstr>
      <vt:lpstr>Droplet</vt:lpstr>
      <vt:lpstr>Genetic Algorithms</vt:lpstr>
      <vt:lpstr>Introduction to Genetic Algorithms </vt:lpstr>
      <vt:lpstr>Solution Representation</vt:lpstr>
      <vt:lpstr>Fitness Function </vt:lpstr>
      <vt:lpstr>Selection Methods </vt:lpstr>
      <vt:lpstr>Crossover (Recombination)</vt:lpstr>
      <vt:lpstr>PowerPoint Presentation</vt:lpstr>
      <vt:lpstr>PowerPoint Presentation</vt:lpstr>
      <vt:lpstr>PowerPoint Presentation</vt:lpstr>
      <vt:lpstr>Conclusion</vt:lpstr>
      <vt:lpstr>Thank you!  Any questions?</vt:lpstr>
      <vt:lpstr>Contact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Bilal</dc:creator>
  <cp:lastModifiedBy>Muhammad Bilal</cp:lastModifiedBy>
  <cp:revision>1</cp:revision>
  <dcterms:created xsi:type="dcterms:W3CDTF">2025-06-22T13:00:44Z</dcterms:created>
  <dcterms:modified xsi:type="dcterms:W3CDTF">2025-06-22T14:08:49Z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